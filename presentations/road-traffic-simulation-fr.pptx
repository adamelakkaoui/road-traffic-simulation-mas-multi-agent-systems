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831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257800" y="1083571"/>
            <a:ext cx="3611880" cy="3520425"/>
          </a:xfrm>
          <a:prstGeom prst="rect">
            <a:avLst/>
          </a:prstGeom>
          <a:solidFill>
            <a:srgbClr val="1B3A5C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86476"/>
            <a:ext cx="2011680" cy="2560320"/>
          </a:xfrm>
          <a:prstGeom prst="rect">
            <a:avLst/>
          </a:prstGeom>
          <a:solidFill>
            <a:srgbClr val="1A3550">
              <a:alpha val="80000"/>
            </a:srgbClr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0" y="1769356"/>
            <a:ext cx="0" cy="2103120"/>
          </a:xfrm>
          <a:prstGeom prst="line">
            <a:avLst/>
          </a:prstGeom>
          <a:noFill/>
          <a:ln w="635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0" y="1769356"/>
            <a:ext cx="0" cy="2103120"/>
          </a:xfrm>
          <a:prstGeom prst="line">
            <a:avLst/>
          </a:prstGeom>
          <a:noFill/>
          <a:ln w="635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0" y="1769356"/>
            <a:ext cx="0" cy="2103120"/>
          </a:xfrm>
          <a:prstGeom prst="line">
            <a:avLst/>
          </a:prstGeom>
          <a:noFill/>
          <a:ln w="635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0" y="1769356"/>
            <a:ext cx="0" cy="2103120"/>
          </a:xfrm>
          <a:prstGeom prst="line">
            <a:avLst/>
          </a:prstGeom>
          <a:noFill/>
          <a:ln w="635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860796"/>
            <a:ext cx="1645920" cy="0"/>
          </a:xfrm>
          <a:prstGeom prst="line">
            <a:avLst/>
          </a:prstGeom>
          <a:noFill/>
          <a:ln w="635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2272276"/>
            <a:ext cx="1645920" cy="0"/>
          </a:xfrm>
          <a:prstGeom prst="line">
            <a:avLst/>
          </a:prstGeom>
          <a:noFill/>
          <a:ln w="635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0" y="2683756"/>
            <a:ext cx="1645920" cy="0"/>
          </a:xfrm>
          <a:prstGeom prst="line">
            <a:avLst/>
          </a:prstGeom>
          <a:noFill/>
          <a:ln w="635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3095236"/>
            <a:ext cx="1645920" cy="0"/>
          </a:xfrm>
          <a:prstGeom prst="line">
            <a:avLst/>
          </a:prstGeom>
          <a:noFill/>
          <a:ln w="635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0" y="3506716"/>
            <a:ext cx="1645920" cy="0"/>
          </a:xfrm>
          <a:prstGeom prst="line">
            <a:avLst/>
          </a:prstGeom>
          <a:noFill/>
          <a:ln w="635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320040"/>
            <a:ext cx="320040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3200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SYSTÈMES MULTI-AGENTS · NETLOGO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" y="8229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 DE SIMULATION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228600" y="15087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ROUTIÈRE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228600" y="23865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</a:t>
            </a:r>
            <a:r>
              <a:rPr lang="en-US" sz="1300" i="1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Ingénierie</a:t>
            </a:r>
            <a:r>
              <a:rPr lang="en-US" sz="1300" i="1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en-US" sz="1300" i="1" dirty="0" err="1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</a:t>
            </a:r>
            <a:r>
              <a:rPr lang="en-US" sz="1300" i="1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Intelligents</a:t>
            </a:r>
            <a:r>
              <a:rPr lang="en-US" sz="1300" i="1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(ISI)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28600" y="2926080"/>
            <a:ext cx="457200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3108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EAF8"/>
                </a:solidFill>
              </a:rPr>
              <a:t>El Akkaoui Adam  ·  Zaidouh Mohammed  ·  Haddout Alaaeddine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8600" y="3474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A9CCE3"/>
                </a:solidFill>
              </a:rPr>
              <a:t>Semestre</a:t>
            </a:r>
            <a:r>
              <a:rPr lang="en-US" sz="1000" dirty="0">
                <a:solidFill>
                  <a:srgbClr val="A9CCE3"/>
                </a:solidFill>
              </a:rPr>
              <a:t> 3 · 2025–2026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2880" y="4846320"/>
            <a:ext cx="8778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9CCE3"/>
                </a:solidFill>
              </a:rPr>
              <a:t>FACULTÉ DES SCIENCES  ·  DÉPARTEMENT D'INFORMATIQUE  ·  INGÉNIERIE DES SYSTÈMES INTELLIGENTS</a:t>
            </a:r>
            <a:endParaRPr lang="en-US" sz="8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915012A8-3988-048C-85B0-E652E9994F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6673" y="1220716"/>
            <a:ext cx="3375442" cy="3278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A689D099-8676-5A7F-B3C5-B226FB87D91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195060" y="173721"/>
            <a:ext cx="1691640" cy="65302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731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8600" y="548640"/>
            <a:ext cx="3657600" cy="320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777240"/>
            <a:ext cx="4206240" cy="7772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777240"/>
            <a:ext cx="548640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7724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77724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Introduction &amp; Objectifs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777240"/>
            <a:ext cx="4206240" cy="777240"/>
          </a:xfrm>
          <a:prstGeom prst="rect">
            <a:avLst/>
          </a:prstGeom>
          <a:solidFill>
            <a:srgbClr val="1A3550"/>
          </a:solidFill>
          <a:ln w="12700">
            <a:solidFill>
              <a:srgbClr val="F0A50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777240"/>
            <a:ext cx="548640" cy="77724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77724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49240" y="77724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Architecture &amp; Entités (Breeds)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28600" y="1965960"/>
            <a:ext cx="4206240" cy="777240"/>
          </a:xfrm>
          <a:prstGeom prst="rect">
            <a:avLst/>
          </a:prstGeom>
          <a:solidFill>
            <a:srgbClr val="1A3550"/>
          </a:solidFill>
          <a:ln w="12700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1965960"/>
            <a:ext cx="548640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" y="196596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19659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Modélisation de l'Environnement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1965960"/>
            <a:ext cx="4206240" cy="777240"/>
          </a:xfrm>
          <a:prstGeom prst="rect">
            <a:avLst/>
          </a:prstGeom>
          <a:solidFill>
            <a:srgbClr val="1A3550"/>
          </a:solidFill>
          <a:ln w="12700">
            <a:solidFill>
              <a:srgbClr val="9B59B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965960"/>
            <a:ext cx="548640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96596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49240" y="19659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Comportements Intelligents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28600" y="3154680"/>
            <a:ext cx="4206240" cy="777240"/>
          </a:xfrm>
          <a:prstGeom prst="rect">
            <a:avLst/>
          </a:prstGeom>
          <a:solidFill>
            <a:srgbClr val="1A3550"/>
          </a:solidFill>
          <a:ln w="1270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28600" y="3154680"/>
            <a:ext cx="548640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" y="31546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14400" y="31546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Indicateurs &amp; Métriques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154680"/>
            <a:ext cx="4206240" cy="777240"/>
          </a:xfrm>
          <a:prstGeom prst="rect">
            <a:avLst/>
          </a:prstGeom>
          <a:solidFill>
            <a:srgbClr val="1A3550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3154680"/>
            <a:ext cx="548640" cy="7772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31546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349240" y="31546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Scénarios &amp; Analyse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468880" y="4114800"/>
            <a:ext cx="4206240" cy="7772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468880" y="4114800"/>
            <a:ext cx="548640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68880" y="41148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07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15468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Conclusion &amp; Perspectives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731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Introduction &amp; Objectifs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8600" y="548640"/>
            <a:ext cx="3657600" cy="320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" y="685800"/>
            <a:ext cx="4114800" cy="34747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685800"/>
            <a:ext cx="411480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858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CONTEXTE &amp; PROBLÉMATIQUE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1078992"/>
            <a:ext cx="388620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Urbanisation croissante → explosion du trafic urbain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Congestion, accidents et pollution : défis majeurs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Systèmes centralisés insuffisants pour la complexité réelle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Les SMA : approche décentralisée, chaque véhicule = agent autonome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NetLogo : environnement idéal pour la simulation d'agents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685800"/>
            <a:ext cx="4343400" cy="3474720"/>
          </a:xfrm>
          <a:prstGeom prst="rect">
            <a:avLst/>
          </a:prstGeom>
          <a:solidFill>
            <a:srgbClr val="1A3550"/>
          </a:solidFill>
          <a:ln w="12700">
            <a:solidFill>
              <a:srgbClr val="F0A50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685800"/>
            <a:ext cx="4343400" cy="34747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68580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OBJECTIFS DU PROJET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097280"/>
            <a:ext cx="4114800" cy="521208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1097280"/>
            <a:ext cx="457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66360" y="1097280"/>
            <a:ext cx="3566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Modéliser des agents véhicules autonomes capables d'interagir dynamiquement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1709928"/>
            <a:ext cx="4114800" cy="521208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709928"/>
            <a:ext cx="457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🚦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66360" y="1709928"/>
            <a:ext cx="3566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Simuler des feux adaptatifs pour optimiser les flux aux intersections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2322576"/>
            <a:ext cx="4114800" cy="521208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2322576"/>
            <a:ext cx="457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📉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66360" y="2322576"/>
            <a:ext cx="3566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Réduire la congestion urbaine grâce à la coordination inter-agents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2935224"/>
            <a:ext cx="4114800" cy="521208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2935224"/>
            <a:ext cx="457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166360" y="2935224"/>
            <a:ext cx="3566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Améliorer la sécurité routière via une régulation intelligente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3547872"/>
            <a:ext cx="4114800" cy="521208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3547872"/>
            <a:ext cx="457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66360" y="3547872"/>
            <a:ext cx="3566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Mesurer les performances via indicateurs temps réel (vitesse, accidents, congestion)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731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Architecture &amp; Entités (Breeds)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8600" y="548640"/>
            <a:ext cx="3657600" cy="320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4592" y="713232"/>
            <a:ext cx="2834640" cy="1828800"/>
          </a:xfrm>
          <a:prstGeom prst="rect">
            <a:avLst/>
          </a:prstGeom>
          <a:solidFill>
            <a:srgbClr val="1A3550"/>
          </a:solidFill>
          <a:ln w="1905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64592" y="713232"/>
            <a:ext cx="2834640" cy="4572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7132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🚗  CARS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" y="1216152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Vitesse, destination GPS, personnalité conducteur (aggressive / normal / cautious)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36392" y="713232"/>
            <a:ext cx="2834640" cy="1828800"/>
          </a:xfrm>
          <a:prstGeom prst="rect">
            <a:avLst/>
          </a:prstGeom>
          <a:solidFill>
            <a:srgbClr val="1A3550"/>
          </a:solidFill>
          <a:ln w="19050">
            <a:solidFill>
              <a:srgbClr val="F0A50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36392" y="713232"/>
            <a:ext cx="2834640" cy="45720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27832" y="7132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🏍️  BIKES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27832" y="1216152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Agilité supérieure, comportement influencé par la personnalité, évitement actif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08192" y="713232"/>
            <a:ext cx="2834640" cy="1828800"/>
          </a:xfrm>
          <a:prstGeom prst="rect">
            <a:avLst/>
          </a:prstGeom>
          <a:solidFill>
            <a:srgbClr val="1A3550"/>
          </a:solidFill>
          <a:ln w="19050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08192" y="713232"/>
            <a:ext cx="2834640" cy="45720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9632" y="7132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🚌  BUSES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99632" y="1216152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Itinéraires fixes, arrêts prédéfinis, impact direct sur la fluidité du trafic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64592" y="2724912"/>
            <a:ext cx="2834640" cy="1828800"/>
          </a:xfrm>
          <a:prstGeom prst="rect">
            <a:avLst/>
          </a:prstGeom>
          <a:solidFill>
            <a:srgbClr val="1A3550"/>
          </a:solidFill>
          <a:ln w="1905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64592" y="2724912"/>
            <a:ext cx="2834640" cy="45720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27249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👮  POLICE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56032" y="3227832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Surveillance des infractions, détection excès de vitesse, verbalisation des contrevenants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136392" y="2724912"/>
            <a:ext cx="2834640" cy="1828800"/>
          </a:xfrm>
          <a:prstGeom prst="rect">
            <a:avLst/>
          </a:prstGeom>
          <a:solidFill>
            <a:srgbClr val="1A3550"/>
          </a:solidFill>
          <a:ln w="19050">
            <a:solidFill>
              <a:srgbClr val="9B59B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136392" y="2724912"/>
            <a:ext cx="2834640" cy="4572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7832" y="27249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🚶  PEDESTRIANS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227832" y="3227832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Passages piétons, patience variable, interaction avec feux de signalisation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08192" y="2724912"/>
            <a:ext cx="2834640" cy="1828800"/>
          </a:xfrm>
          <a:prstGeom prst="rect">
            <a:avLst/>
          </a:prstGeom>
          <a:solidFill>
            <a:srgbClr val="1A3550"/>
          </a:solidFill>
          <a:ln w="1905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08192" y="2724912"/>
            <a:ext cx="283464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99632" y="27249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🚦  LIGHTS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99632" y="3227832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États vert/jaune/rouge, durée adaptative selon densité trafic détectée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64592" y="4663440"/>
            <a:ext cx="8823960" cy="320040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6EAF8"/>
                </a:solidFill>
              </a:rPr>
              <a:t>💡  Personnalités conducteurs : Aggressive (vitesse élevée, peu de respect des règles)  ·  Normal (comportement standard)  ·  Cautious (prudence maximale)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731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Modélisation de l'Environnement (Patches)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8600" y="548640"/>
            <a:ext cx="3657600" cy="320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4008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A9CCE3"/>
                </a:solidFill>
              </a:rPr>
              <a:t>La ville est modélisée sous forme d'une grille de patches, où chaque cellule encode son rôle dans le réseau routier.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64592" y="1097280"/>
            <a:ext cx="4114800" cy="3474720"/>
          </a:xfrm>
          <a:prstGeom prst="rect">
            <a:avLst/>
          </a:prstGeom>
          <a:solidFill>
            <a:srgbClr val="1A3550"/>
          </a:solidFill>
          <a:ln w="12700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64592" y="1097280"/>
            <a:ext cx="4114800" cy="34747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0972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ZONES URBAINES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" y="1508760"/>
            <a:ext cx="3886200" cy="868680"/>
          </a:xfrm>
          <a:prstGeom prst="rect">
            <a:avLst/>
          </a:prstGeom>
          <a:solidFill>
            <a:srgbClr val="1B3A5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508760"/>
            <a:ext cx="73152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15087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B4D8"/>
                </a:solidFill>
              </a:rPr>
              <a:t>Zone Résidentielle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11480" y="18013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Vitesses limitées, trafic modéré, piétons fréquents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56032" y="2514600"/>
            <a:ext cx="3886200" cy="868680"/>
          </a:xfrm>
          <a:prstGeom prst="rect">
            <a:avLst/>
          </a:prstGeom>
          <a:solidFill>
            <a:srgbClr val="1B3A5C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" y="2514600"/>
            <a:ext cx="73152" cy="86868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514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A500"/>
                </a:solidFill>
              </a:rPr>
              <a:t>Zone Commerciale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11480" y="280720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Forte densité, bus et congestion aux heures de pointe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56032" y="3520440"/>
            <a:ext cx="3886200" cy="868680"/>
          </a:xfrm>
          <a:prstGeom prst="rect">
            <a:avLst/>
          </a:prstGeom>
          <a:solidFill>
            <a:srgbClr val="1B3A5C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" y="3520440"/>
            <a:ext cx="73152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520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39C12"/>
                </a:solidFill>
              </a:rPr>
              <a:t>Zone Industrielle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1480" y="381304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Trafic lourd, poids lourds, flux directionnel important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0" y="1097280"/>
            <a:ext cx="4389120" cy="34747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1097280"/>
            <a:ext cx="438912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0972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INFRASTRUCTURE ROUTIÈRE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1508760"/>
            <a:ext cx="4160520" cy="713232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150876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🛣️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12080" y="1508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B4D8"/>
                </a:solidFill>
              </a:rPr>
              <a:t>Routes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212080" y="1783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Axes de circulation principaux, attributs de vitesse et direction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2313432"/>
            <a:ext cx="4160520" cy="713232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2313432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✖️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212080" y="2313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B4D8"/>
                </a:solidFill>
              </a:rPr>
              <a:t>Intersections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212080" y="25877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Points critiques, gérés par des feux adaptatifs intelligents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3118104"/>
            <a:ext cx="4160520" cy="713232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3118104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🚶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212080" y="31181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B4D8"/>
                </a:solidFill>
              </a:rPr>
              <a:t>Passages piétons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212080" y="339242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Zones de traversée sécurisées, état dépendant des feux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3922776"/>
            <a:ext cx="4160520" cy="713232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3922776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5212080" y="39227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B4D8"/>
                </a:solidFill>
              </a:rPr>
              <a:t>Attributs patches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212080" y="419709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Densité trafic, niveau congestion, zone type, état route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731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Comportements Intelligents — Feux &amp; Navigation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8600" y="548640"/>
            <a:ext cx="3657600" cy="320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4592" y="685800"/>
            <a:ext cx="4160520" cy="4206240"/>
          </a:xfrm>
          <a:prstGeom prst="rect">
            <a:avLst/>
          </a:prstGeom>
          <a:solidFill>
            <a:srgbClr val="1A3550"/>
          </a:solidFill>
          <a:ln w="1270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64592" y="685800"/>
            <a:ext cx="4160520" cy="3657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6858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🚦  FEUX DE SIGNALISATION ADAPTATIFS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1115568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Détection en temps réel du nombre de véhicules dans le rayon d'approche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Ajustement dynamique de la durée des phases (vert/rouge) selon la densité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Priorité accordée aux voies les plus chargées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Réduction des temps d'attente inutiles aux intersections peu fréquentées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Coordination implicite : amélioration globale de la fluidité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1005840" cy="1005840"/>
          </a:xfrm>
          <a:prstGeom prst="ellipse">
            <a:avLst/>
          </a:prstGeom>
          <a:solidFill>
            <a:srgbClr val="2ECC7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3520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VERT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44988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9CCE3"/>
                </a:solidFill>
              </a:rPr>
              <a:t>Passage autorisé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A9CCE3"/>
                </a:solidFill>
              </a:rPr>
              <a:t>(durée variable)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664208" y="3520440"/>
            <a:ext cx="1005840" cy="1005840"/>
          </a:xfrm>
          <a:prstGeom prst="ellipse">
            <a:avLst/>
          </a:prstGeom>
          <a:solidFill>
            <a:srgbClr val="F0A5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64208" y="3520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JAUNE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572768" y="44988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9CCE3"/>
                </a:solidFill>
              </a:rPr>
              <a:t>Transition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A9CCE3"/>
                </a:solidFill>
              </a:rPr>
              <a:t>(fixe)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962656" y="3520440"/>
            <a:ext cx="1005840" cy="1005840"/>
          </a:xfrm>
          <a:prstGeom prst="ellipse">
            <a:avLst/>
          </a:prstGeom>
          <a:solidFill>
            <a:srgbClr val="E74C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62656" y="3520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ROUGE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871216" y="44988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9CCE3"/>
                </a:solidFill>
              </a:rPr>
              <a:t>Arrêt obligatoire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A9CCE3"/>
                </a:solidFill>
              </a:rPr>
              <a:t>(durée variable)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371600" y="4023360"/>
            <a:ext cx="38404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70048" y="4023360"/>
            <a:ext cx="38404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0" y="685800"/>
            <a:ext cx="4389120" cy="42062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685800"/>
            <a:ext cx="4389120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685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🗺️  NAVIGATION &amp; GPS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1115568"/>
            <a:ext cx="416052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11155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📡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66360" y="11155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Mode GPS activé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66360" y="1389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Pathfinding intelligent vers destination, choix de route optimal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1865376"/>
            <a:ext cx="416052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1865376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🎲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166360" y="18653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Mode sans GPS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66360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Navigation aléatoire aux intersections, simulation comportement basique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63440" y="2615184"/>
            <a:ext cx="416052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261518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166360" y="26151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Évitement collisions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66360" y="28895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Adaptation vitesse selon agents détectés dans le voisinage proche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63440" y="3364992"/>
            <a:ext cx="416052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63440" y="336499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🛑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166360" y="3364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Respect des feux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66360" y="363931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Arrêt obligatoire au rouge, passage prudent au vert/jaune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663440" y="4114800"/>
            <a:ext cx="416052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63440" y="411480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🔄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5166360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Adaptation météo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166360" y="43891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Réduction vitesse sous pluie ou neige, augmentation des distances de sécurité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731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Comportements Intelligents — Police &amp; Infractions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8600" y="548640"/>
            <a:ext cx="3657600" cy="320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40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A9CCE3"/>
                </a:solidFill>
              </a:rPr>
              <a:t>Les agents de police introduisent un mécanisme de régulation comportementale, influençant indirectement la fluidité et la sécurité globale.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4592" y="1097280"/>
            <a:ext cx="5303520" cy="3474720"/>
          </a:xfrm>
          <a:prstGeom prst="rect">
            <a:avLst/>
          </a:prstGeom>
          <a:solidFill>
            <a:srgbClr val="1A3550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64592" y="1097280"/>
            <a:ext cx="5303520" cy="36576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097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👮  RÔLE DES AGENTS POLICE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1536192"/>
            <a:ext cx="5074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Patrouille dans les zones à haute densité de trafic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Détection automatique des dépassements de vitesse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Verbalisation (ticket) des agents en infraction → mise à jour du compteur d'amendes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Présence dissuasive : réduction des comportements agressifs au voisinage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Contribution à l'amélioration du respect du code de la route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6EAF8"/>
                </a:solidFill>
              </a:rPr>
              <a:t>Indicateur 'nombre de tickets émis' suivi en temps réel dans l'interface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0" y="1097280"/>
            <a:ext cx="3291840" cy="1005840"/>
          </a:xfrm>
          <a:prstGeom prst="rect">
            <a:avLst/>
          </a:prstGeom>
          <a:solidFill>
            <a:srgbClr val="1B3A5C"/>
          </a:solidFill>
          <a:ln w="1905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669280" y="10972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74C3C"/>
                </a:solidFill>
              </a:rPr>
              <a:t>3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6858000" y="1234440"/>
            <a:ext cx="0" cy="731520"/>
          </a:xfrm>
          <a:prstGeom prst="line">
            <a:avLst/>
          </a:prstGeom>
          <a:noFill/>
          <a:ln w="12700">
            <a:solidFill>
              <a:srgbClr val="E74C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10972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Types d'infractions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0" y="2267712"/>
            <a:ext cx="3291840" cy="1005840"/>
          </a:xfrm>
          <a:prstGeom prst="rect">
            <a:avLst/>
          </a:prstGeom>
          <a:solidFill>
            <a:srgbClr val="1B3A5C"/>
          </a:solidFill>
          <a:ln w="1905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69280" y="2267712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4D8"/>
                </a:solidFill>
              </a:rPr>
              <a:t>RL</a:t>
            </a:r>
            <a:endParaRPr lang="en-US" sz="3600" dirty="0"/>
          </a:p>
        </p:txBody>
      </p:sp>
      <p:sp>
        <p:nvSpPr>
          <p:cNvPr id="19" name="Shape 17"/>
          <p:cNvSpPr/>
          <p:nvPr/>
        </p:nvSpPr>
        <p:spPr>
          <a:xfrm>
            <a:off x="6858000" y="2404872"/>
            <a:ext cx="0" cy="73152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2267712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Apprentissage adaptatif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0" y="3438144"/>
            <a:ext cx="3291840" cy="1005840"/>
          </a:xfrm>
          <a:prstGeom prst="rect">
            <a:avLst/>
          </a:prstGeom>
          <a:solidFill>
            <a:srgbClr val="1B3A5C"/>
          </a:solidFill>
          <a:ln w="19050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669280" y="3438144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CC71"/>
                </a:solidFill>
              </a:rPr>
              <a:t>100%</a:t>
            </a:r>
            <a:endParaRPr lang="en-US" sz="3600" dirty="0"/>
          </a:p>
        </p:txBody>
      </p:sp>
      <p:sp>
        <p:nvSpPr>
          <p:cNvPr id="23" name="Shape 21"/>
          <p:cNvSpPr/>
          <p:nvPr/>
        </p:nvSpPr>
        <p:spPr>
          <a:xfrm>
            <a:off x="6858000" y="3575304"/>
            <a:ext cx="0" cy="731520"/>
          </a:xfrm>
          <a:prstGeom prst="line">
            <a:avLst/>
          </a:prstGeom>
          <a:noFill/>
          <a:ln w="12700">
            <a:solidFill>
              <a:srgbClr val="2ECC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440" y="3438144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Couverture intersections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" y="4617720"/>
            <a:ext cx="8823960" cy="347472"/>
          </a:xfrm>
          <a:prstGeom prst="rect">
            <a:avLst/>
          </a:prstGeom>
          <a:solidFill>
            <a:srgbClr val="1B3A5C"/>
          </a:solidFill>
          <a:ln w="6350">
            <a:solidFill>
              <a:srgbClr val="F39C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6EAF8"/>
                </a:solidFill>
              </a:rPr>
              <a:t>CYCLE :  Détection infraction  →  Identification contrevenant  →  Émission ticket  →  Mise à jour statistiques  →  Effet dissuasif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731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Comportements Intelligents — Apprentissage par Renforcement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8600" y="548640"/>
            <a:ext cx="3657600" cy="320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400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A9CCE3"/>
                </a:solidFill>
              </a:rPr>
              <a:t>Les agents intègrent des mécanismes inspirés du Reinforcement Learning pour améliorer progressivement leurs décisions au fil de la simulation.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097280"/>
            <a:ext cx="1645920" cy="8686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" y="1115568"/>
            <a:ext cx="160934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</a:rPr>
              <a:t>État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</a:rPr>
              <a:t>(Environment)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83280" y="1097280"/>
            <a:ext cx="1645920" cy="86868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01568" y="1115568"/>
            <a:ext cx="160934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</a:rPr>
              <a:t>Décision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</a:rPr>
              <a:t>(Agent)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1645920" cy="86868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44768" y="1115568"/>
            <a:ext cx="160934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</a:rPr>
              <a:t>Action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</a:rPr>
              <a:t>(Move/Stop)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83280" y="2834640"/>
            <a:ext cx="1645920" cy="8686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01568" y="2852928"/>
            <a:ext cx="160934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</a:rPr>
              <a:t>Récompense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</a:rPr>
              <a:t>(Reward)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0" y="1618488"/>
            <a:ext cx="109728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0" y="1618488"/>
            <a:ext cx="109728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28312" y="1947672"/>
            <a:ext cx="0" cy="86868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" y="3840480"/>
            <a:ext cx="8823960" cy="105156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64592" y="3840480"/>
            <a:ext cx="64008" cy="10515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8404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APPORTS OBSERVÉS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0040" y="4187952"/>
            <a:ext cx="8549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Amélioration progressive des trajectoires choisies par les véhicules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Réduction de la congestion aux intersections après plusieurs itérations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Adaptation dynamique des vitesses selon conditions (météo, densité, heure)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731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Indicateurs &amp; Résultats — Métriques Clés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8600" y="548640"/>
            <a:ext cx="3657600" cy="320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4592" y="713232"/>
            <a:ext cx="2834640" cy="1783080"/>
          </a:xfrm>
          <a:prstGeom prst="rect">
            <a:avLst/>
          </a:prstGeom>
          <a:solidFill>
            <a:srgbClr val="1A3550"/>
          </a:solidFill>
          <a:ln w="1905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64592" y="713232"/>
            <a:ext cx="2834640" cy="42062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" y="71323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📊  Taux de Congestion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56032" y="1170432"/>
            <a:ext cx="2697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Pourcentage de routes saturées. Augmente rapidement aux intersections à forte densité. Indicateur principal de performance globale.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36392" y="713232"/>
            <a:ext cx="2834640" cy="1783080"/>
          </a:xfrm>
          <a:prstGeom prst="rect">
            <a:avLst/>
          </a:prstGeom>
          <a:solidFill>
            <a:srgbClr val="1A3550"/>
          </a:solidFill>
          <a:ln w="1905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36392" y="713232"/>
            <a:ext cx="2834640" cy="42062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9544" y="71323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⚡  Vitesse Moyenne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27832" y="1170432"/>
            <a:ext cx="2697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Km/h moyen de tous les véhicules. Diminue progressivement avec la densité. Corrélé inversement au taux de congestion.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08192" y="713232"/>
            <a:ext cx="2834640" cy="1783080"/>
          </a:xfrm>
          <a:prstGeom prst="rect">
            <a:avLst/>
          </a:prstGeom>
          <a:solidFill>
            <a:srgbClr val="1A3550"/>
          </a:solidFill>
          <a:ln w="1905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08192" y="713232"/>
            <a:ext cx="2834640" cy="42062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81344" y="71323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💥  Nombre d'Accidents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199632" y="1170432"/>
            <a:ext cx="2697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Collisions détectées entre agents. Augmente avec la météo défavorable et les personnalités agressives.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64592" y="2679192"/>
            <a:ext cx="2834640" cy="1783080"/>
          </a:xfrm>
          <a:prstGeom prst="rect">
            <a:avLst/>
          </a:prstGeom>
          <a:solidFill>
            <a:srgbClr val="1A3550"/>
          </a:solidFill>
          <a:ln w="19050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64592" y="2679192"/>
            <a:ext cx="2834640" cy="42062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7744" y="267919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⏱️  Temps d'Attente Moyen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56032" y="3136392"/>
            <a:ext cx="2697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Durée moyenne d'arrêt aux feux. Réduit grâce aux feux adaptatifs. Indicateur d'efficacité de régulation.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136392" y="2679192"/>
            <a:ext cx="2834640" cy="1783080"/>
          </a:xfrm>
          <a:prstGeom prst="rect">
            <a:avLst/>
          </a:prstGeom>
          <a:solidFill>
            <a:srgbClr val="1A3550"/>
          </a:solidFill>
          <a:ln w="19050">
            <a:solidFill>
              <a:srgbClr val="9B59B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136392" y="2679192"/>
            <a:ext cx="2834640" cy="42062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9544" y="267919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🎫  Tickets Émis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227832" y="3136392"/>
            <a:ext cx="2697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Nombre d'infractions verbalisées. Reflète l'activité de la police et l'évolution du respect des règles.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08192" y="2679192"/>
            <a:ext cx="2834640" cy="1783080"/>
          </a:xfrm>
          <a:prstGeom prst="rect">
            <a:avLst/>
          </a:prstGeom>
          <a:solidFill>
            <a:srgbClr val="1A3550"/>
          </a:solidFill>
          <a:ln w="19050">
            <a:solidFill>
              <a:srgbClr val="F0A50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08192" y="2679192"/>
            <a:ext cx="2834640" cy="420624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81344" y="267919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🌡️  Flux Trafic Global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199632" y="3136392"/>
            <a:ext cx="2697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D6EAF8"/>
                </a:solidFill>
              </a:rPr>
              <a:t>Débit de véhicules par zone. Identifie les bottlenecks via la heatmap de chaleur intégrée.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64592" y="4663440"/>
            <a:ext cx="8823960" cy="320040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6EAF8"/>
                </a:solidFill>
              </a:rPr>
              <a:t>📈  Tous les indicateurs sont mis à jour en temps réel à chaque tick et visualisables via graphiques + heatmap dans l'interface NetLogo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731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Analyse des Scénarios de Simulation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8600" y="548640"/>
            <a:ext cx="3657600" cy="320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4592" y="713232"/>
            <a:ext cx="4251960" cy="1920240"/>
          </a:xfrm>
          <a:prstGeom prst="rect">
            <a:avLst/>
          </a:prstGeom>
          <a:solidFill>
            <a:srgbClr val="1A3550"/>
          </a:solidFill>
          <a:ln w="19050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64592" y="713232"/>
            <a:ext cx="4251960" cy="38404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7132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Scénario 01  ·  Faible Densité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" y="1152144"/>
            <a:ext cx="4069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Circulation fluide, congestion minimale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Vitesse moyenne élevée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Peu d'accidents, temps d'attente faibles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Les agents atteignent facilement leurs destinations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45152" y="713232"/>
            <a:ext cx="4251960" cy="1920240"/>
          </a:xfrm>
          <a:prstGeom prst="rect">
            <a:avLst/>
          </a:prstGeom>
          <a:solidFill>
            <a:srgbClr val="1A3550"/>
          </a:solidFill>
          <a:ln w="1905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45152" y="713232"/>
            <a:ext cx="4251960" cy="38404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7132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Scénario 02  ·  Forte Densité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36592" y="1152144"/>
            <a:ext cx="4069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Congestion significative aux intersections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Vitesse moyenne en forte baisse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Interactions fréquentes, accidents plus nombreux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Embouteillages observés aux carrefours critiques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64592" y="2770632"/>
            <a:ext cx="4251960" cy="1920240"/>
          </a:xfrm>
          <a:prstGeom prst="rect">
            <a:avLst/>
          </a:prstGeom>
          <a:solidFill>
            <a:srgbClr val="1A3550"/>
          </a:solidFill>
          <a:ln w="19050">
            <a:solidFill>
              <a:srgbClr val="9B59B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64592" y="2770632"/>
            <a:ext cx="425196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" y="27706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Scénario 03  ·  Police + Piétons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6032" y="3209544"/>
            <a:ext cx="4069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Meilleur respect du code de la route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Légère augmentation des temps d'attente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Réduction des comportements agressifs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Amélioration du score sécurité global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45152" y="2770632"/>
            <a:ext cx="4251960" cy="1920240"/>
          </a:xfrm>
          <a:prstGeom prst="rect">
            <a:avLst/>
          </a:prstGeom>
          <a:solidFill>
            <a:srgbClr val="1A3550"/>
          </a:solidFill>
          <a:ln w="1905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45152" y="2770632"/>
            <a:ext cx="4251960" cy="38404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36592" y="27706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Scénario 04  ·  Météo Défavorable (Pluie)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36592" y="3209544"/>
            <a:ext cx="4069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Vitesse réduite automatiquement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Hausse du taux d'accidents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Congestion accrue malgré moins de véhicules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Comportement réaliste validé par le modèle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64592" y="4663440"/>
            <a:ext cx="8823960" cy="320040"/>
          </a:xfrm>
          <a:prstGeom prst="rect">
            <a:avLst/>
          </a:prstGeom>
          <a:solidFill>
            <a:srgbClr val="1B3A5C"/>
          </a:solidFill>
          <a:ln w="6350">
            <a:solidFill>
              <a:srgbClr val="F0A5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6EAF8"/>
                </a:solidFill>
              </a:rPr>
              <a:t>🔍  Variables testées : densité véhicules, nombre police, taux GPS, conditions météo, heure de pointe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solidFill>
            <a:srgbClr val="1B3A5C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73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731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Conclusion &amp; Perspectives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8600" y="548640"/>
            <a:ext cx="3657600" cy="320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4592" y="685800"/>
            <a:ext cx="5394960" cy="228600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64592" y="685800"/>
            <a:ext cx="5394960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685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✅  BILAN DU PROJET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1115568"/>
            <a:ext cx="516636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Architecture SMA robuste avec 6 types d'agents distincts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Feux adaptatifs réduisant efficacement la congestion aux intersections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Comportements émergents réalistes : embouteillages, accidents, auto-organisation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Métriques temps réel et interface interactive sous NetLogo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RL basique prouvant l'amélioration progressive du système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4592" y="3063240"/>
            <a:ext cx="5394960" cy="1920240"/>
          </a:xfrm>
          <a:prstGeom prst="rect">
            <a:avLst/>
          </a:prstGeom>
          <a:solidFill>
            <a:srgbClr val="1A3550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64592" y="3063240"/>
            <a:ext cx="5394960" cy="36576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30632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⚠️  LIMITES IDENTIFIÉES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3493008"/>
            <a:ext cx="5166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Simplification de la diversité des comportements humains réels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Infrastructure routière simulée, non issue de vraies cartes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6EAF8"/>
                </a:solidFill>
              </a:rPr>
              <a:t>RL de base, sans apprentissage profond (Deep Q-Learning)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60720" y="685800"/>
            <a:ext cx="3200400" cy="4297680"/>
          </a:xfrm>
          <a:prstGeom prst="rect">
            <a:avLst/>
          </a:prstGeom>
          <a:solidFill>
            <a:srgbClr val="1A3550"/>
          </a:solidFill>
          <a:ln w="12700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60720" y="685800"/>
            <a:ext cx="3200400" cy="36576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0" y="685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🚀  PERSPECTIVES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52160" y="1115568"/>
            <a:ext cx="3017520" cy="548640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0" y="11155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🧠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55080" y="111556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Deep Q-Learning pour une adaptation avancée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852160" y="1755648"/>
            <a:ext cx="3017520" cy="548640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0" y="17556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🗺️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55080" y="175564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Intégration OpenStreetMap (vraies cartes)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52160" y="2395728"/>
            <a:ext cx="3017520" cy="548640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52160" y="239572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🤖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55080" y="239572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Véhicules autonomes (V2X communication)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52160" y="3035808"/>
            <a:ext cx="3017520" cy="548640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0" y="30358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🌆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55080" y="303580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Simulation à grande échelle urbaine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852160" y="3675888"/>
            <a:ext cx="3017520" cy="548640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52160" y="367588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🔮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55080" y="367588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Optimisation intelligente centralisée des feux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852160" y="4315968"/>
            <a:ext cx="3017520" cy="548640"/>
          </a:xfrm>
          <a:prstGeom prst="rect">
            <a:avLst/>
          </a:prstGeom>
          <a:solidFill>
            <a:srgbClr val="1B3A5C"/>
          </a:solidFill>
          <a:ln w="12700">
            <a:solidFill>
              <a:srgbClr val="0E2A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52160" y="43159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☁️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355080" y="431596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AF8"/>
                </a:solidFill>
              </a:rPr>
              <a:t>Jumeaux numériques de villes réelles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73865" y="457200"/>
            <a:ext cx="8112935" cy="4114800"/>
          </a:xfrm>
          <a:prstGeom prst="rect">
            <a:avLst/>
          </a:prstGeom>
          <a:solidFill>
            <a:srgbClr val="1B3A5C">
              <a:alpha val="40000"/>
            </a:srgbClr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68880" y="548640"/>
            <a:ext cx="0" cy="3931920"/>
          </a:xfrm>
          <a:prstGeom prst="line">
            <a:avLst/>
          </a:prstGeom>
          <a:noFill/>
          <a:ln w="381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54680" y="548640"/>
            <a:ext cx="0" cy="3931920"/>
          </a:xfrm>
          <a:prstGeom prst="line">
            <a:avLst/>
          </a:prstGeom>
          <a:noFill/>
          <a:ln w="381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548640"/>
            <a:ext cx="0" cy="3931920"/>
          </a:xfrm>
          <a:prstGeom prst="line">
            <a:avLst/>
          </a:prstGeom>
          <a:noFill/>
          <a:ln w="381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548640"/>
            <a:ext cx="0" cy="3931920"/>
          </a:xfrm>
          <a:prstGeom prst="line">
            <a:avLst/>
          </a:prstGeom>
          <a:noFill/>
          <a:ln w="381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0" y="548640"/>
            <a:ext cx="0" cy="3931920"/>
          </a:xfrm>
          <a:prstGeom prst="line">
            <a:avLst/>
          </a:prstGeom>
          <a:noFill/>
          <a:ln w="381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97880" y="548640"/>
            <a:ext cx="0" cy="3931920"/>
          </a:xfrm>
          <a:prstGeom prst="line">
            <a:avLst/>
          </a:prstGeom>
          <a:noFill/>
          <a:ln w="381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2743200" y="1920240"/>
            <a:ext cx="36576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057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B4D8"/>
                </a:solidFill>
              </a:rPr>
              <a:t>SMA de Simulation Routière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26517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9CCE3"/>
                </a:solidFill>
              </a:rPr>
              <a:t>El Akkaoui Adam  ·  Zaidouh Mohammed  ·  Haddout Alaaeddine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017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9CCE3"/>
                </a:solidFill>
              </a:rPr>
              <a:t>Filière ISI · Semestre 3 · 2025–2026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2940" y="3931920"/>
            <a:ext cx="1417320" cy="365760"/>
          </a:xfrm>
          <a:prstGeom prst="rect">
            <a:avLst/>
          </a:prstGeom>
          <a:solidFill>
            <a:srgbClr val="1B3A5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" y="3931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NetLogo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63140" y="3931920"/>
            <a:ext cx="1417320" cy="365760"/>
          </a:xfrm>
          <a:prstGeom prst="rect">
            <a:avLst/>
          </a:prstGeom>
          <a:solidFill>
            <a:srgbClr val="1B3A5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63140" y="3931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Multi-Agents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3340" y="3931920"/>
            <a:ext cx="1417320" cy="365760"/>
          </a:xfrm>
          <a:prstGeom prst="rect">
            <a:avLst/>
          </a:prstGeom>
          <a:solidFill>
            <a:srgbClr val="1B3A5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63340" y="3931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RL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63540" y="3931920"/>
            <a:ext cx="1417320" cy="365760"/>
          </a:xfrm>
          <a:prstGeom prst="rect">
            <a:avLst/>
          </a:prstGeom>
          <a:solidFill>
            <a:srgbClr val="1B3A5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63540" y="3931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Simulation Trafic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063740" y="3931920"/>
            <a:ext cx="1417320" cy="365760"/>
          </a:xfrm>
          <a:prstGeom prst="rect">
            <a:avLst/>
          </a:prstGeom>
          <a:solidFill>
            <a:srgbClr val="1B3A5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63740" y="3931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IA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1231</Words>
  <Application>Microsoft Office PowerPoint</Application>
  <PresentationFormat>Affichage à l'écran (16:9)</PresentationFormat>
  <Paragraphs>229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2026-09-30T18:53:41Z</dcterms:created>
  <dcterms:modified xsi:type="dcterms:W3CDTF">2026-09-30T18:53:41Z</dcterms:modified>
</cp:coreProperties>
</file>