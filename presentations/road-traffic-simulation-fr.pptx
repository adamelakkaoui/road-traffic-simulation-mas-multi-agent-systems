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83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0" y="1083571"/>
            <a:ext cx="3611880" cy="3520425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586476"/>
            <a:ext cx="2011680" cy="2560320"/>
          </a:xfrm>
          <a:prstGeom prst="rect">
            <a:avLst/>
          </a:prstGeom>
          <a:solidFill>
            <a:srgbClr val="1A3550">
              <a:alpha val="8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769356"/>
            <a:ext cx="0" cy="210312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769356"/>
            <a:ext cx="0" cy="210312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769356"/>
            <a:ext cx="0" cy="210312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769356"/>
            <a:ext cx="0" cy="210312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60796"/>
            <a:ext cx="1645920" cy="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272276"/>
            <a:ext cx="1645920" cy="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683756"/>
            <a:ext cx="1645920" cy="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095236"/>
            <a:ext cx="1645920" cy="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3506716"/>
            <a:ext cx="1645920" cy="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0040"/>
            <a:ext cx="32004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0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SYSTÈMES MULTI-AGENTS · NETLOGO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822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DE SIMULATION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28600" y="1508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ROUTIÈRE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28600" y="23865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r>
              <a:rPr lang="en-US" sz="13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</a:t>
            </a:r>
            <a:r>
              <a:rPr lang="en-US" sz="13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300" i="1" dirty="0" err="1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</a:t>
            </a:r>
            <a:r>
              <a:rPr lang="en-US" sz="13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</a:t>
            </a:r>
            <a:r>
              <a:rPr lang="en-US" sz="13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(ISI)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45720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El Akkaoui Adam  ·  Zaidouh Mohammed  ·  Haddout Alaaeddine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A9CCE3"/>
                </a:solidFill>
              </a:rPr>
              <a:t>Semestre</a:t>
            </a:r>
            <a:r>
              <a:rPr lang="en-US" sz="1000" dirty="0">
                <a:solidFill>
                  <a:srgbClr val="A9CCE3"/>
                </a:solidFill>
              </a:rPr>
              <a:t> 3 · 2025–2026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CE3"/>
                </a:solidFill>
              </a:rPr>
              <a:t>FACULTÉ DES SCIENCES  ·  DÉPARTEMENT D'INFORMATIQUE  ·  INGÉNIERIE DES SYSTÈMES INTELLIGENTS</a:t>
            </a:r>
            <a:endParaRPr lang="en-US" sz="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15012A8-3988-048C-85B0-E652E9994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673" y="1220716"/>
            <a:ext cx="3375442" cy="327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689D099-8676-5A7F-B3C5-B226FB87D9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95060" y="173721"/>
            <a:ext cx="1691640" cy="653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7724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77240"/>
            <a:ext cx="54864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777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 &amp; Objectifs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77240"/>
            <a:ext cx="54864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77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777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 &amp; Entités (Breeds)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196596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965960"/>
            <a:ext cx="548640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Modélisation de l'Environnement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96596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965960"/>
            <a:ext cx="548640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Comportements Intelligents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315468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154680"/>
            <a:ext cx="54864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154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546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Indicateurs &amp; Métriques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15468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154680"/>
            <a:ext cx="54864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154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31546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Scénarios &amp; Analyse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68880" y="4114800"/>
            <a:ext cx="420624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68880" y="4114800"/>
            <a:ext cx="54864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4114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54680" y="4114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&amp; Objectifs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685800"/>
            <a:ext cx="4114800" cy="34747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68580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85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CONTEXTE &amp; PROBLÉMATIQUE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0789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Urbanisation croissante → explosion du trafic urbain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Congestion, accidents et pollution : défis majeurs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Systèmes centralisés insuffisants pour la complexité réelle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Les SMA : approche décentralisée, chaque véhicule = agent autonome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NetLogo : environnement idéal pour la simulation d'agents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685800"/>
            <a:ext cx="4343400" cy="3474720"/>
          </a:xfrm>
          <a:prstGeom prst="rect">
            <a:avLst/>
          </a:prstGeom>
          <a:solidFill>
            <a:srgbClr val="1A355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685800"/>
            <a:ext cx="434340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685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OBJECTIFS DU PROJET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114800" cy="5212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109728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Modéliser des agents véhicules autonomes capables d'interagir dynamiquement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709928"/>
            <a:ext cx="4114800" cy="5212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09928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170992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Simuler des feux adaptatifs pour optimiser les flux aux intersections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322576"/>
            <a:ext cx="4114800" cy="5212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22576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232257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Réduire la congestion urbaine grâce à la coordination inter-agents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935224"/>
            <a:ext cx="4114800" cy="5212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935224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66360" y="293522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Améliorer la sécurité routière via une régulation intelligente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547872"/>
            <a:ext cx="4114800" cy="5212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54787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354787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Mesurer les performances via indicateurs temps réel (vitesse, accidents, congestion)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 &amp; Entités (Breeds)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713232"/>
            <a:ext cx="2834640" cy="1828800"/>
          </a:xfrm>
          <a:prstGeom prst="rect">
            <a:avLst/>
          </a:prstGeom>
          <a:solidFill>
            <a:srgbClr val="1A355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13232"/>
            <a:ext cx="28346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13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🚗  CARS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Vitesse, destination GPS, personnalité conducteur (aggressive / normal / cautious)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713232"/>
            <a:ext cx="2834640" cy="1828800"/>
          </a:xfrm>
          <a:prstGeom prst="rect">
            <a:avLst/>
          </a:prstGeom>
          <a:solidFill>
            <a:srgbClr val="1A35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713232"/>
            <a:ext cx="283464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713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🏍️  BIKES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7832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Agilité supérieure, comportement influencé par la personnalité, évitement actif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713232"/>
            <a:ext cx="2834640" cy="1828800"/>
          </a:xfrm>
          <a:prstGeom prst="rect">
            <a:avLst/>
          </a:prstGeom>
          <a:solidFill>
            <a:srgbClr val="1A355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713232"/>
            <a:ext cx="283464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713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🚌  BUSES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Itinéraires fixes, arrêts prédéfinis, impact direct sur la fluidité du trafic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" y="2724912"/>
            <a:ext cx="2834640" cy="1828800"/>
          </a:xfrm>
          <a:prstGeom prst="rect">
            <a:avLst/>
          </a:prstGeom>
          <a:solidFill>
            <a:srgbClr val="1A3550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724912"/>
            <a:ext cx="283464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👮  POLICE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" y="322783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Surveillance des infractions, détection excès de vitesse, verbalisation des contrevenants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36392" y="2724912"/>
            <a:ext cx="2834640" cy="1828800"/>
          </a:xfrm>
          <a:prstGeom prst="rect">
            <a:avLst/>
          </a:prstGeom>
          <a:solidFill>
            <a:srgbClr val="1A3550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36392" y="2724912"/>
            <a:ext cx="2834640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🚶  PEDESTRIANS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27832" y="322783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Passages piétons, patience variable, interaction avec feux de signalisation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08192" y="2724912"/>
            <a:ext cx="2834640" cy="1828800"/>
          </a:xfrm>
          <a:prstGeom prst="rect">
            <a:avLst/>
          </a:prstGeom>
          <a:solidFill>
            <a:srgbClr val="1A3550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2724912"/>
            <a:ext cx="283464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🚦  LIGHTS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9632" y="322783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États vert/jaune/rouge, durée adaptative selon densité trafic détectée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4663440"/>
            <a:ext cx="8823960" cy="320040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💡  Personnalités conducteurs : Aggressive (vitesse élevée, peu de respect des règles)  ·  Normal (comportement standard)  ·  Cautious (prudence maximale)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Modélisation de l'Environnement (Patches)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40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CCE3"/>
                </a:solidFill>
              </a:rPr>
              <a:t>La ville est modélisée sous forme d'une grille de patches, où chaque cellule encode son rôle dans le réseau routier.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4592" y="1097280"/>
            <a:ext cx="4114800" cy="3474720"/>
          </a:xfrm>
          <a:prstGeom prst="rect">
            <a:avLst/>
          </a:prstGeom>
          <a:solidFill>
            <a:srgbClr val="1A3550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097280"/>
            <a:ext cx="411480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ZONES URBAINES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508760"/>
            <a:ext cx="388620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50876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Zone Résidentielle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1801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Vitesses limitées, trafic modéré, piétons fréquents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514600"/>
            <a:ext cx="388620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514600"/>
            <a:ext cx="73152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14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</a:rPr>
              <a:t>Zone Commerciale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Forte densité, bus et congestion aux heures de pointe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520440"/>
            <a:ext cx="388620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520440"/>
            <a:ext cx="73152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</a:rPr>
              <a:t>Zone Industrielle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813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Trafic lourd, poids lourds, flux directionnel important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4389120" cy="34747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97280"/>
            <a:ext cx="43891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97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INFRASTRUCTURE ROUTIÈRE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508760"/>
            <a:ext cx="4160520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508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🛣️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Routes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1208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Axes de circulation principaux, attributs de vitesse et direction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313432"/>
            <a:ext cx="4160520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3134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✖️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Intersections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12080" y="2587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Points critiques, gérés par des feux adaptatifs intelligents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118104"/>
            <a:ext cx="4160520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11810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🚶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12080" y="3118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Passages piétons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12080" y="33924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Zones de traversée sécurisées, état dépendant des feux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22776"/>
            <a:ext cx="4160520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92277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12080" y="3922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Attributs patches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12080" y="41970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Densité trafic, niveau congestion, zone type, état route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Comportements Intelligents — Feux &amp; Navigation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685800"/>
            <a:ext cx="4160520" cy="4206240"/>
          </a:xfrm>
          <a:prstGeom prst="rect">
            <a:avLst/>
          </a:prstGeom>
          <a:solidFill>
            <a:srgbClr val="1A3550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685800"/>
            <a:ext cx="416052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685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🚦  FEUX DE SIGNALISATION ADAPTATIFS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15568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Détection en temps réel du nombre de véhicules dans le rayon d'approche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Ajustement dynamique de la durée des phases (vert/rouge) selon la densité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Priorité accordée aux voies les plus chargées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Réduction des temps d'attente inutiles aux intersections peu fréquentées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Coordination implicite : amélioration globale de la fluidité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1005840" cy="100584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20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VERT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4988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CCE3"/>
                </a:solidFill>
              </a:rPr>
              <a:t>Passage autorisé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9CCE3"/>
                </a:solidFill>
              </a:rPr>
              <a:t>(durée variable)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64208" y="3520440"/>
            <a:ext cx="1005840" cy="1005840"/>
          </a:xfrm>
          <a:prstGeom prst="ellipse">
            <a:avLst/>
          </a:prstGeom>
          <a:solidFill>
            <a:srgbClr val="F0A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3520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JAUNE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72768" y="44988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CCE3"/>
                </a:solidFill>
              </a:rPr>
              <a:t>Transition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9CCE3"/>
                </a:solidFill>
              </a:rPr>
              <a:t>(fixe)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62656" y="3520440"/>
            <a:ext cx="1005840" cy="100584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62656" y="3520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ROUGE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71216" y="44988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CCE3"/>
                </a:solidFill>
              </a:rPr>
              <a:t>Arrêt obligatoire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9CCE3"/>
                </a:solidFill>
              </a:rPr>
              <a:t>(durée variable)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0" y="4023360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0048" y="4023360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685800"/>
            <a:ext cx="4389120" cy="42062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685800"/>
            <a:ext cx="43891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685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🗺️  NAVIGATION &amp; GPS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416052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Mode GPS activé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Pathfinding intelligent vers destination, choix de route optimal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65376"/>
            <a:ext cx="416052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65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1865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Mode sans GPS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Navigation aléatoire aux intersections, simulation comportement basique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615184"/>
            <a:ext cx="416052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615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6636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Évitement collisions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28895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Adaptation vitesse selon agents détectés dans le voisinage proche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364992"/>
            <a:ext cx="416052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3649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6636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Respect des feux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639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Arrêt obligatoire au rouge, passage prudent au vert/jaune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114800"/>
            <a:ext cx="416052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148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663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Adaptation météo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4389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Réduction vitesse sous pluie ou neige, augmentation des distances de sécurité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Comportements Intelligents — Police &amp; Infractions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</a:rPr>
              <a:t>Les agents de police introduisent un mécanisme de régulation comportementale, influençant indirectement la fluidité et la sécurité globale.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097280"/>
            <a:ext cx="5303520" cy="3474720"/>
          </a:xfrm>
          <a:prstGeom prst="rect">
            <a:avLst/>
          </a:prstGeom>
          <a:solidFill>
            <a:srgbClr val="1A3550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097280"/>
            <a:ext cx="530352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👮  RÔLE DES AGENTS POLICE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536192"/>
            <a:ext cx="5074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Patrouille dans les zones à haute densité de trafic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Détection automatique des dépassements de vitesse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Verbalisation (ticket) des agents en infraction → mise à jour du compteur d'amendes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Présence dissuasive : réduction des comportements agressifs au voisinage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Contribution à l'amélioration du respect du code de la route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Indicateur 'nombre de tickets émis' suivi en temps réel dans l'interface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3291840" cy="1005840"/>
          </a:xfrm>
          <a:prstGeom prst="rect">
            <a:avLst/>
          </a:prstGeom>
          <a:solidFill>
            <a:srgbClr val="1B3A5C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0972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</a:rPr>
              <a:t>3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858000" y="1234440"/>
            <a:ext cx="0" cy="73152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097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Types d'infractions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267712"/>
            <a:ext cx="3291840" cy="1005840"/>
          </a:xfrm>
          <a:prstGeom prst="rect">
            <a:avLst/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226771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RL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858000" y="2404872"/>
            <a:ext cx="0" cy="73152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26771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Apprentissage adaptatif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3438144"/>
            <a:ext cx="3291840" cy="1005840"/>
          </a:xfrm>
          <a:prstGeom prst="rect">
            <a:avLst/>
          </a:prstGeom>
          <a:solidFill>
            <a:srgbClr val="1B3A5C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3438144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</a:rPr>
              <a:t>100%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858000" y="3575304"/>
            <a:ext cx="0" cy="73152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438144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Couverture intersections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" y="4617720"/>
            <a:ext cx="8823960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CYCLE :  Détection infraction  →  Identification contrevenant  →  Émission ticket  →  Mise à jour statistiques  →  Effet dissuasif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Comportements Intelligents — Apprentissage par Renforcement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400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</a:rPr>
              <a:t>Les agents intègrent des mécanismes inspirés du Reinforcement Learning pour améliorer progressivement leurs décisions au fil de la simulation.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097280"/>
            <a:ext cx="1645920" cy="868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115568"/>
            <a:ext cx="1609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État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(Environment)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1645920" cy="8686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01568" y="1115568"/>
            <a:ext cx="1609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Décision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(Agent)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1645920" cy="8686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4768" y="1115568"/>
            <a:ext cx="1609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(Move/Stop)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834640"/>
            <a:ext cx="1645920" cy="8686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01568" y="2852928"/>
            <a:ext cx="1609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Récompense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(Reward)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1618488"/>
            <a:ext cx="10972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618488"/>
            <a:ext cx="10972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8312" y="1947672"/>
            <a:ext cx="0" cy="8686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3840480"/>
            <a:ext cx="8823960" cy="105156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384048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APPORTS OBSERVÉS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187952"/>
            <a:ext cx="8549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Amélioration progressive des trajectoires choisies par les véhicules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Réduction de la congestion aux intersections après plusieurs itérations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Adaptation dynamique des vitesses selon conditions (météo, densité, heure)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Indicateurs &amp; Résultats — Métriques Clés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713232"/>
            <a:ext cx="2834640" cy="1783080"/>
          </a:xfrm>
          <a:prstGeom prst="rect">
            <a:avLst/>
          </a:prstGeom>
          <a:solidFill>
            <a:srgbClr val="1A3550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13232"/>
            <a:ext cx="2834640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7132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📊  Taux de Congestion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" y="1170432"/>
            <a:ext cx="2697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Pourcentage de routes saturées. Augmente rapidement aux intersections à forte densité. Indicateur principal de performance globale.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36392" y="713232"/>
            <a:ext cx="2834640" cy="1783080"/>
          </a:xfrm>
          <a:prstGeom prst="rect">
            <a:avLst/>
          </a:prstGeom>
          <a:solidFill>
            <a:srgbClr val="1A355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713232"/>
            <a:ext cx="283464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7132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⚡  Vitesse Moyenne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27832" y="1170432"/>
            <a:ext cx="2697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Km/h moyen de tous les véhicules. Diminue progressivement avec la densité. Corrélé inversement au taux de congestion.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713232"/>
            <a:ext cx="2834640" cy="1783080"/>
          </a:xfrm>
          <a:prstGeom prst="rect">
            <a:avLst/>
          </a:prstGeom>
          <a:solidFill>
            <a:srgbClr val="1A3550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713232"/>
            <a:ext cx="2834640" cy="4206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7132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💥  Nombre d'Accidents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9632" y="1170432"/>
            <a:ext cx="2697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Collisions détectées entre agents. Augmente avec la météo défavorable et les personnalités agressives.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2679192"/>
            <a:ext cx="2834640" cy="1783080"/>
          </a:xfrm>
          <a:prstGeom prst="rect">
            <a:avLst/>
          </a:prstGeom>
          <a:solidFill>
            <a:srgbClr val="1A355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679192"/>
            <a:ext cx="2834640" cy="42062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6791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⏱️  Temps d'Attente Moyen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6032" y="3136392"/>
            <a:ext cx="2697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Durée moyenne d'arrêt aux feux. Réduit grâce aux feux adaptatifs. Indicateur d'efficacité de régulation.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36392" y="2679192"/>
            <a:ext cx="2834640" cy="1783080"/>
          </a:xfrm>
          <a:prstGeom prst="rect">
            <a:avLst/>
          </a:prstGeom>
          <a:solidFill>
            <a:srgbClr val="1A3550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36392" y="2679192"/>
            <a:ext cx="2834640" cy="4206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9544" y="26791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🎫  Tickets Émis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27832" y="3136392"/>
            <a:ext cx="2697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Nombre d'infractions verbalisées. Reflète l'activité de la police et l'évolution du respect des règles.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08192" y="2679192"/>
            <a:ext cx="2834640" cy="1783080"/>
          </a:xfrm>
          <a:prstGeom prst="rect">
            <a:avLst/>
          </a:prstGeom>
          <a:solidFill>
            <a:srgbClr val="1A35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2679192"/>
            <a:ext cx="2834640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26791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🌡️  Flux Trafic Global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99632" y="3136392"/>
            <a:ext cx="2697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Débit de véhicules par zone. Identifie les bottlenecks via la heatmap de chaleur intégrée.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" y="4663440"/>
            <a:ext cx="8823960" cy="320040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📈  Tous les indicateurs sont mis à jour en temps réel à chaque tick et visualisables via graphiques + heatmap dans l'interface NetLogo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Analyse des Scénarios de Simulation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713232"/>
            <a:ext cx="4251960" cy="1920240"/>
          </a:xfrm>
          <a:prstGeom prst="rect">
            <a:avLst/>
          </a:prstGeom>
          <a:solidFill>
            <a:srgbClr val="1A355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13232"/>
            <a:ext cx="425196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13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Scénario 01  ·  Faible Densité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1152144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Circulation fluide, congestion minimale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Vitesse moyenne élevée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Peu d'accidents, temps d'attente faibles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Les agents atteignent facilement leurs destinations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5152" y="713232"/>
            <a:ext cx="4251960" cy="1920240"/>
          </a:xfrm>
          <a:prstGeom prst="rect">
            <a:avLst/>
          </a:prstGeom>
          <a:solidFill>
            <a:srgbClr val="1A3550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713232"/>
            <a:ext cx="42519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713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Scénario 02  ·  Forte Densité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1152144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Congestion significative aux intersections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Vitesse moyenne en forte baisse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Interactions fréquentes, accidents plus nombreux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Embouteillages observés aux carrefours critiques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" y="2770632"/>
            <a:ext cx="4251960" cy="1920240"/>
          </a:xfrm>
          <a:prstGeom prst="rect">
            <a:avLst/>
          </a:prstGeom>
          <a:solidFill>
            <a:srgbClr val="1A3550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2770632"/>
            <a:ext cx="425196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7706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Scénario 03  ·  Police + Piétons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" y="3209544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Meilleur respect du code de la route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Légère augmentation des temps d'attente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Réduction des comportements agressifs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Amélioration du score sécurité global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2770632"/>
            <a:ext cx="4251960" cy="1920240"/>
          </a:xfrm>
          <a:prstGeom prst="rect">
            <a:avLst/>
          </a:prstGeom>
          <a:solidFill>
            <a:srgbClr val="1A3550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2770632"/>
            <a:ext cx="425196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7706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Scénario 04  ·  Météo Défavorable (Pluie)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3209544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Vitesse réduite automatiquement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Hausse du taux d'accidents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Congestion accrue malgré moins de véhicules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Comportement réaliste validé par le modèle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4663440"/>
            <a:ext cx="8823960" cy="320040"/>
          </a:xfrm>
          <a:prstGeom prst="rect">
            <a:avLst/>
          </a:prstGeom>
          <a:solidFill>
            <a:srgbClr val="1B3A5C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🔍  Variables testées : densité véhicules, nombre police, taux GPS, conditions météo, heure de pointe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solidFill>
            <a:srgbClr val="1B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73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3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 &amp; Perspectives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548640"/>
            <a:ext cx="36576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685800"/>
            <a:ext cx="5394960" cy="228600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685800"/>
            <a:ext cx="53949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685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BILAN DU PROJET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115568"/>
            <a:ext cx="5166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Architecture SMA robuste avec 6 types d'agents distincts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Feux adaptatifs réduisant efficacement la congestion aux intersections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Comportements émergents réalistes : embouteillages, accidents, auto-organisation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Métriques temps réel et interface interactive sous NetLogo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RL basique prouvant l'amélioration progressive du système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" y="3063240"/>
            <a:ext cx="5394960" cy="1920240"/>
          </a:xfrm>
          <a:prstGeom prst="rect">
            <a:avLst/>
          </a:prstGeom>
          <a:solidFill>
            <a:srgbClr val="1A3550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" y="3063240"/>
            <a:ext cx="539496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LIMITES IDENTIFIÉES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493008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Simplification de la diversité des comportements humains réels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Infrastructure routière simulée, non issue de vraies cartes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</a:rPr>
              <a:t>RL de base, sans apprentissage profond (Deep Q-Learning)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685800"/>
            <a:ext cx="3200400" cy="4297680"/>
          </a:xfrm>
          <a:prstGeom prst="rect">
            <a:avLst/>
          </a:prstGeom>
          <a:solidFill>
            <a:srgbClr val="1A3550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685800"/>
            <a:ext cx="3200400" cy="365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685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🚀  PERSPECTIVES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1115568"/>
            <a:ext cx="30175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115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115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Deep Q-Learning pour une adaptation avancée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1755648"/>
            <a:ext cx="30175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7556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7556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Intégration OpenStreetMap (vraies cartes)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2395728"/>
            <a:ext cx="30175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3957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2395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Véhicules autonomes (V2X communication)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3035808"/>
            <a:ext cx="30175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035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30358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Simulation à grande échelle urbaine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675888"/>
            <a:ext cx="30175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6758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Optimisation intelligente centralisée des feux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4315968"/>
            <a:ext cx="30175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0E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4315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☁️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4315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Jumeaux numériques de villes réelles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3865" y="457200"/>
            <a:ext cx="8112935" cy="4114800"/>
          </a:xfrm>
          <a:prstGeom prst="rect">
            <a:avLst/>
          </a:prstGeom>
          <a:solidFill>
            <a:srgbClr val="1B3A5C">
              <a:alpha val="4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548640"/>
            <a:ext cx="0" cy="3931920"/>
          </a:xfrm>
          <a:prstGeom prst="line">
            <a:avLst/>
          </a:prstGeom>
          <a:noFill/>
          <a:ln w="381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548640"/>
            <a:ext cx="0" cy="3931920"/>
          </a:xfrm>
          <a:prstGeom prst="line">
            <a:avLst/>
          </a:prstGeom>
          <a:noFill/>
          <a:ln w="381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548640"/>
            <a:ext cx="0" cy="3931920"/>
          </a:xfrm>
          <a:prstGeom prst="line">
            <a:avLst/>
          </a:prstGeom>
          <a:noFill/>
          <a:ln w="381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548640"/>
            <a:ext cx="0" cy="3931920"/>
          </a:xfrm>
          <a:prstGeom prst="line">
            <a:avLst/>
          </a:prstGeom>
          <a:noFill/>
          <a:ln w="381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548640"/>
            <a:ext cx="0" cy="3931920"/>
          </a:xfrm>
          <a:prstGeom prst="line">
            <a:avLst/>
          </a:prstGeom>
          <a:noFill/>
          <a:ln w="381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548640"/>
            <a:ext cx="0" cy="3931920"/>
          </a:xfrm>
          <a:prstGeom prst="line">
            <a:avLst/>
          </a:prstGeom>
          <a:noFill/>
          <a:ln w="381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743200" y="192024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4D8"/>
                </a:solidFill>
              </a:rPr>
              <a:t>SMA de Simulation Routière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CCE3"/>
                </a:solidFill>
              </a:rPr>
              <a:t>El Akkaoui Adam  ·  Zaidouh Mohammed  ·  Haddout Alaaeddine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9CCE3"/>
                </a:solidFill>
              </a:rPr>
              <a:t>Filière ISI · Semestre 3 · 2025–2026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" y="3931920"/>
            <a:ext cx="14173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NetLogo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3140" y="3931920"/>
            <a:ext cx="14173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314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Multi-Agents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63340" y="3931920"/>
            <a:ext cx="14173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334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RL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63540" y="3931920"/>
            <a:ext cx="14173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354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Simulation Trafic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63740" y="3931920"/>
            <a:ext cx="14173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374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[phone redacted]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[phone redacted]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1231</Words>
  <Application>Microsoft Office PowerPoint</Application>
  <PresentationFormat>Affichage à l'écran (16:9)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 de Simulation Routière</dc:title>
  <dc:subject>PptxGenJS Presentation</dc:subject>
  <dc:creator>PptxGenJS</dc:creator>
  <cp:lastModifiedBy/>
  <cp:revision>4</cp:revision>
  <dcterms:created xsi:type="dcterms:W3CDTF">2026-03-06T11:56:01Z</dcterms:created>
  <dcterms:modified xsi:type="dcterms:W3CDTF">2026-03-15T02:30:02Z</dcterms:modified>
</cp:coreProperties>
</file>